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lus Jakarta Sans ExtraBold"/>
      <p:bold r:id="rId18"/>
      <p:boldItalic r:id="rId19"/>
    </p:embeddedFont>
    <p:embeddedFont>
      <p:font typeface="Inter SemiBold"/>
      <p:regular r:id="rId20"/>
      <p:bold r:id="rId21"/>
      <p:italic r:id="rId22"/>
      <p:boldItalic r:id="rId23"/>
    </p:embeddedFont>
    <p:embeddedFont>
      <p:font typeface="Plus Jakarta Sans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Plus Jakarta Sans Medium"/>
      <p:regular r:id="rId32"/>
      <p:bold r:id="rId33"/>
      <p:italic r:id="rId34"/>
      <p:boldItalic r:id="rId35"/>
    </p:embeddedFont>
    <p:embeddedFont>
      <p:font typeface="Roboto Mon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512">
          <p15:clr>
            <a:srgbClr val="000000"/>
          </p15:clr>
        </p15:guide>
        <p15:guide id="2" pos="2880">
          <p15:clr>
            <a:srgbClr val="000000"/>
          </p15:clr>
        </p15:guide>
        <p15:guide id="3" pos="4062">
          <p15:clr>
            <a:srgbClr val="747775"/>
          </p15:clr>
        </p15:guide>
        <p15:guide id="4" pos="3528">
          <p15:clr>
            <a:srgbClr val="747775"/>
          </p15:clr>
        </p15:guide>
      </p15:sldGuideLst>
    </p:ext>
    <p:ext uri="GoogleSlidesCustomDataVersion2">
      <go:slidesCustomData xmlns:go="http://customooxmlschemas.google.com/" r:id="rId40" roundtripDataSignature="AMtx7mgy+xjgK1OeCtU/ZrOca2XPOUOt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A3AFC9-DC2A-4EFB-96E2-6D216478EB14}">
  <a:tblStyle styleId="{28A3AFC9-DC2A-4EFB-96E2-6D216478EB1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F77E0526-E2C8-42F0-8E97-029A61D0DE8A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512" orient="horz"/>
        <p:guide pos="2880"/>
        <p:guide pos="4062"/>
        <p:guide pos="35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PlusJakartaSans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italic.fntdata"/><Relationship Id="rId25" Type="http://schemas.openxmlformats.org/officeDocument/2006/relationships/font" Target="fonts/PlusJakartaSans-bold.fntdata"/><Relationship Id="rId28" Type="http://schemas.openxmlformats.org/officeDocument/2006/relationships/font" Target="fonts/Inter-regular.fntdata"/><Relationship Id="rId27" Type="http://schemas.openxmlformats.org/officeDocument/2006/relationships/font" Target="fonts/PlusJakarta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PlusJakartaSansMedium-bold.fntdata"/><Relationship Id="rId10" Type="http://schemas.openxmlformats.org/officeDocument/2006/relationships/slide" Target="slides/slide4.xml"/><Relationship Id="rId32" Type="http://schemas.openxmlformats.org/officeDocument/2006/relationships/font" Target="fonts/PlusJakartaSansMedium-regular.fntdata"/><Relationship Id="rId13" Type="http://schemas.openxmlformats.org/officeDocument/2006/relationships/slide" Target="slides/slide7.xml"/><Relationship Id="rId35" Type="http://schemas.openxmlformats.org/officeDocument/2006/relationships/font" Target="fonts/PlusJakartaSansMedium-boldItalic.fntdata"/><Relationship Id="rId12" Type="http://schemas.openxmlformats.org/officeDocument/2006/relationships/slide" Target="slides/slide6.xml"/><Relationship Id="rId34" Type="http://schemas.openxmlformats.org/officeDocument/2006/relationships/font" Target="fonts/PlusJakartaSansMedium-italic.fntdata"/><Relationship Id="rId15" Type="http://schemas.openxmlformats.org/officeDocument/2006/relationships/slide" Target="slides/slide9.xml"/><Relationship Id="rId37" Type="http://schemas.openxmlformats.org/officeDocument/2006/relationships/font" Target="fonts/RobotoMono-bold.fntdata"/><Relationship Id="rId14" Type="http://schemas.openxmlformats.org/officeDocument/2006/relationships/slide" Target="slides/slide8.xml"/><Relationship Id="rId36" Type="http://schemas.openxmlformats.org/officeDocument/2006/relationships/font" Target="fonts/RobotoMono-regular.fntdata"/><Relationship Id="rId17" Type="http://schemas.openxmlformats.org/officeDocument/2006/relationships/slide" Target="slides/slide11.xml"/><Relationship Id="rId39" Type="http://schemas.openxmlformats.org/officeDocument/2006/relationships/font" Target="fonts/RobotoMono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Mono-italic.fntdata"/><Relationship Id="rId19" Type="http://schemas.openxmlformats.org/officeDocument/2006/relationships/font" Target="fonts/PlusJakartaSansExtraBold-boldItalic.fntdata"/><Relationship Id="rId18" Type="http://schemas.openxmlformats.org/officeDocument/2006/relationships/font" Target="fonts/PlusJakartaSans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adb4a5d31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fadb4a5d3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409f079ae3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409f079ae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adb4a5d31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fadb4a5d31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b6fcab6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fb6fcab6e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adb4a5d31_1_1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adb4a5d31_1_81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3" name="Google Shape;13;g3fadb4a5d31_1_81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4" name="Google Shape;14;g3fadb4a5d31_1_8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adb4a5d31_1_85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" name="Google Shape;17;g3fadb4a5d31_1_8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fadb4a5d31_1_8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0" name="Google Shape;20;g3fadb4a5d31_1_8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1" name="Google Shape;21;g3fadb4a5d31_1_8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fadb4a5d31_1_9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4" name="Google Shape;24;g3fadb4a5d31_1_92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5" name="Google Shape;25;g3fadb4a5d31_1_92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6" name="Google Shape;26;g3fadb4a5d31_1_9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fadb4a5d31_1_9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9" name="Google Shape;29;g3fadb4a5d31_1_9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fadb4a5d31_1_100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2" name="Google Shape;32;g3fadb4a5d31_1_100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3" name="Google Shape;33;g3fadb4a5d31_1_10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fadb4a5d31_1_104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6" name="Google Shape;36;g3fadb4a5d31_1_10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fadb4a5d31_1_10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3fadb4a5d31_1_107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0" name="Google Shape;40;g3fadb4a5d31_1_107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1" name="Google Shape;41;g3fadb4a5d31_1_107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2" name="Google Shape;42;g3fadb4a5d31_1_10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adb4a5d31_1_113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5" name="Google Shape;45;g3fadb4a5d31_1_1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adb4a5d31_1_116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8" name="Google Shape;48;g3fadb4a5d31_1_116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9" name="Google Shape;49;g3fadb4a5d31_1_1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adb4a5d31_1_7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fadb4a5d31_1_7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fadb4a5d31_1_7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9.pn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11" Type="http://schemas.openxmlformats.org/officeDocument/2006/relationships/image" Target="../media/image15.png"/><Relationship Id="rId10" Type="http://schemas.openxmlformats.org/officeDocument/2006/relationships/image" Target="../media/image20.png"/><Relationship Id="rId9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295200" y="2388692"/>
            <a:ext cx="1160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3657600" marR="0" rtl="0" algn="just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PunarjeevAnn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1722450" y="3174908"/>
            <a:ext cx="8096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A7F3D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                       Leftover Food Recipe Generator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68400" y="5037900"/>
            <a:ext cx="116016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MEMBER 1</a:t>
            </a:r>
            <a:r>
              <a:rPr b="0" i="0" lang="en-US" sz="1800" u="none" cap="none" strike="noStrike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:    JIYA LALIT VYAS</a:t>
            </a:r>
            <a:r>
              <a:rPr b="0" i="0" lang="en-US" sz="18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											</a:t>
            </a:r>
            <a:endParaRPr b="0" i="0" sz="1800" u="none" cap="none" strike="noStrike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MEMBER 2</a:t>
            </a:r>
            <a:r>
              <a:rPr b="0" i="0" lang="en-US" sz="18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:   MAHI KALPESH PANCHAL</a:t>
            </a:r>
            <a:endParaRPr b="0" i="0" sz="1800" u="none" cap="none" strike="noStrike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TEAM ID: 8</a:t>
            </a:r>
            <a:endParaRPr b="0" i="0" sz="1800" u="none" cap="none" strike="noStrike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2" name="Google Shape;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 txBox="1"/>
          <p:nvPr/>
        </p:nvSpPr>
        <p:spPr>
          <a:xfrm>
            <a:off x="405725" y="408787"/>
            <a:ext cx="5360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064E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 STATEMENT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64" name="Google Shape;6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/>
          <p:nvPr/>
        </p:nvSpPr>
        <p:spPr>
          <a:xfrm>
            <a:off x="533400" y="223837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405725" y="1122325"/>
            <a:ext cx="5360700" cy="55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60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Plus Jakarta Sans"/>
              <a:buChar char="●"/>
            </a:pPr>
            <a:r>
              <a:rPr b="0" i="0" lang="en-US" sz="18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Household food waste is a significant environmental and financial problem, often caused not by a lack of food but by a lack of ideas about how to use leftover ingredients. </a:t>
            </a:r>
            <a:endParaRPr b="0" i="0" sz="18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60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Plus Jakarta Sans"/>
              <a:buChar char="●"/>
            </a:pPr>
            <a:r>
              <a:rPr b="0" i="0" lang="en-US" sz="18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People frequently open their refrigerators and find a few unrelated items—such as half a tomato, cooked rice, and some cheese—and assume that these ingredients cannot be combined into a viable meal. </a:t>
            </a:r>
            <a:endParaRPr b="0" i="0" sz="18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60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Plus Jakarta Sans"/>
              <a:buChar char="●"/>
            </a:pPr>
            <a:r>
              <a:rPr b="0" i="0" lang="en-US" sz="18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decision fatigue can lead to unnecessary food purchases, expensive takeout, and the premature disposal of perfectly edible food. </a:t>
            </a:r>
            <a:endParaRPr b="0" i="0" sz="18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60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Plus Jakarta Sans"/>
              <a:buChar char="●"/>
            </a:pPr>
            <a:r>
              <a:rPr b="0" i="0" lang="en-US" sz="18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Therefore, there is a need for a simple and fast solution that helps users discover practical ways to use their existing leftover ingredients before they become waste. </a:t>
            </a:r>
            <a:endParaRPr b="0" i="0" sz="18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6029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" name="Google Shape;7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400" y="1321675"/>
            <a:ext cx="5757300" cy="531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" name="Google Shape;7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1321678"/>
            <a:ext cx="5448300" cy="1676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" name="Google Shape;7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3150403"/>
            <a:ext cx="5448300" cy="1676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" name="Google Shape;7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5045877"/>
            <a:ext cx="5448300" cy="1592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 txBox="1"/>
          <p:nvPr/>
        </p:nvSpPr>
        <p:spPr>
          <a:xfrm>
            <a:off x="1424196" y="3174813"/>
            <a:ext cx="381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34D399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30%–40%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1576387" y="3810000"/>
            <a:ext cx="3362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CFDF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of Purchased Household Food is Wasted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1271587" y="4124325"/>
            <a:ext cx="39719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A7F3D0"/>
                </a:solidFill>
                <a:latin typeface="Inter"/>
                <a:ea typeface="Inter"/>
                <a:cs typeface="Inter"/>
                <a:sym typeface="Inter"/>
              </a:rPr>
              <a:t>Direct financial loss for families discarding edible groceries weekly.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6858000" y="1552455"/>
            <a:ext cx="49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64E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Landfill Methane Emissions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6467400" y="1999156"/>
            <a:ext cx="4934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Uneaten food decomposing in landfills produces </a:t>
            </a:r>
            <a:r>
              <a:rPr b="1" i="0" lang="en-US" sz="14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~8–10% of global greenhouse gas emissions</a:t>
            </a:r>
            <a:r>
              <a:rPr b="0" i="0" lang="en-US" sz="14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severely accelerating climate damage.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6867801" y="3374231"/>
            <a:ext cx="4944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64E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Wasted Embedded Resources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6467400" y="3819881"/>
            <a:ext cx="4934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Disposing of leftovers wastes thousands of liters of embedded agricultural water, soil nutrients, and energy used in food production.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6858001" y="5195993"/>
            <a:ext cx="49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64E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 Financial Loss</a:t>
            </a:r>
            <a:endParaRPr b="0" i="0" sz="17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6467475" y="5579268"/>
            <a:ext cx="4934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Substantial monetary loss per household per month, directly hitting middle-class household grocery budgets.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85" name="Google Shape;8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7722" y="1552460"/>
            <a:ext cx="207541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3412324"/>
            <a:ext cx="168025" cy="2217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>
            <a:off x="6448427" y="5253700"/>
            <a:ext cx="16802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 txBox="1"/>
          <p:nvPr/>
        </p:nvSpPr>
        <p:spPr>
          <a:xfrm>
            <a:off x="266700" y="412888"/>
            <a:ext cx="11658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064E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ENVIRONMENTAL AND HOUSEHOLD IMPACT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33400" y="862012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Google Shape;94;p8"/>
          <p:cNvGraphicFramePr/>
          <p:nvPr/>
        </p:nvGraphicFramePr>
        <p:xfrm>
          <a:off x="136563" y="132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{28A3AFC9-DC2A-4EFB-96E2-6D216478EB14}</a:tableStyleId>
              </a:tblPr>
              <a:tblGrid>
                <a:gridCol w="1839825"/>
                <a:gridCol w="1179675"/>
                <a:gridCol w="1745900"/>
                <a:gridCol w="2208325"/>
                <a:gridCol w="2189450"/>
                <a:gridCol w="2622800"/>
              </a:tblGrid>
              <a:tr h="95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Platform</a:t>
                      </a:r>
                      <a:endParaRPr b="1"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Regional Target Market</a:t>
                      </a:r>
                      <a:endParaRPr b="1"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Primary Input Method</a:t>
                      </a:r>
                      <a:endParaRPr b="1"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AI &amp; Vision Capabilities</a:t>
                      </a:r>
                      <a:endParaRPr b="1"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Environmental Impact Tracking</a:t>
                      </a:r>
                      <a:endParaRPr b="1"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Key Limitations &amp; Gaps</a:t>
                      </a:r>
                      <a:endParaRPr b="1"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Leftover Magics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India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Manual Text Entry (Indian staple ingredients)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LLM text prompt generator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Qualitative basic food waste saving tips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Lacks computer vision for ingredient photo scanning; no hard eco-metrics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Cook GPT India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India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Text Inputs &amp; Preferences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LLM-based meal planner &amp; personalized recipe assistant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None (Focuses on dietary calories &amp; meal scheduling)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Focuses primarily on weekly meal planning rather than immediate leftover utilization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0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Sanjeev Kapoor (Tiny Chef)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India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Voice &amp; Text natural language queries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AI intent parsing mapped to a curated recipe database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None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Tied to pre-recorded video/recipe databases; lacks dynamic generative AI for random leftovers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5" name="Google Shape;95;p8"/>
          <p:cNvSpPr txBox="1"/>
          <p:nvPr/>
        </p:nvSpPr>
        <p:spPr>
          <a:xfrm>
            <a:off x="3415650" y="415887"/>
            <a:ext cx="5360700" cy="10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064E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LITERATURE REVIEW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t/>
            </a:r>
            <a:endParaRPr b="1" i="0" sz="2550" u="none" cap="none" strike="noStrike">
              <a:solidFill>
                <a:srgbClr val="064E3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Google Shape;100;g3fadb4a5d31_0_9"/>
          <p:cNvGraphicFramePr/>
          <p:nvPr/>
        </p:nvGraphicFramePr>
        <p:xfrm>
          <a:off x="152425" y="106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{28A3AFC9-DC2A-4EFB-96E2-6D216478EB14}</a:tableStyleId>
              </a:tblPr>
              <a:tblGrid>
                <a:gridCol w="1793275"/>
                <a:gridCol w="1149825"/>
                <a:gridCol w="1701725"/>
                <a:gridCol w="2152450"/>
                <a:gridCol w="2134050"/>
                <a:gridCol w="2685975"/>
              </a:tblGrid>
              <a:tr h="156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Platform</a:t>
                      </a:r>
                      <a:endParaRPr b="1"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Regional Target Market</a:t>
                      </a:r>
                      <a:endParaRPr b="1"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Primary Input Method</a:t>
                      </a:r>
                      <a:endParaRPr b="1"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AI &amp; Vision Capabilities</a:t>
                      </a:r>
                      <a:endParaRPr b="1"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Environmental Impact Tracking</a:t>
                      </a:r>
                      <a:endParaRPr b="1"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Key Limitations &amp; Gaps</a:t>
                      </a:r>
                      <a:endParaRPr b="1"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6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Cookpad India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India &amp; Global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Manual Search by ingredient keyword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Community database search engine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None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Relies on user-submitted static recipes; requires exact search matches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7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SuperCook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Global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Checklist &amp; Manual Pantry Selection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Rule-based database lookup (No generative AI)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None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Rigid recipe matching; fails when facing unusual random leftover combinations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6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DishGen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Global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Freeform Text Prompt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Standard LLM Text Generation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None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Lacks native image/photo recognition for fridge contents</a:t>
                      </a:r>
                      <a:endParaRPr sz="14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1" name="Google Shape;101;g3fadb4a5d31_0_9"/>
          <p:cNvSpPr txBox="1"/>
          <p:nvPr/>
        </p:nvSpPr>
        <p:spPr>
          <a:xfrm>
            <a:off x="3767375" y="361212"/>
            <a:ext cx="5360700" cy="15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064E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LITERATURE REVIEW</a:t>
            </a:r>
            <a:endParaRPr b="0" i="0" sz="35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2498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Arial"/>
              <a:buNone/>
            </a:pPr>
            <a:r>
              <a:t/>
            </a:r>
            <a:endParaRPr b="1" i="0" sz="2550" u="none" cap="none" strike="noStrike">
              <a:solidFill>
                <a:srgbClr val="064E3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2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t/>
            </a:r>
            <a:endParaRPr b="1" i="0" sz="2550" u="none" cap="none" strike="noStrike">
              <a:solidFill>
                <a:srgbClr val="064E3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485906"/>
            <a:ext cx="35814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5300" y="1485893"/>
            <a:ext cx="35814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7200" y="1485893"/>
            <a:ext cx="35814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66613" y="4163093"/>
            <a:ext cx="5448300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 txBox="1"/>
          <p:nvPr/>
        </p:nvSpPr>
        <p:spPr>
          <a:xfrm>
            <a:off x="693900" y="1687093"/>
            <a:ext cx="326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64E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Smart Text Input Engine</a:t>
            </a:r>
            <a:endParaRPr b="0" i="0" sz="15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771450" y="2157454"/>
            <a:ext cx="31053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Client-side fuzzy auto-correction (corrects typos like 'tomto' → 'Tomato') with auto-categories &amp; default quantities.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4465800" y="1687093"/>
            <a:ext cx="326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64E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Ingredient Photo Upload</a:t>
            </a:r>
            <a:endParaRPr b="0" i="0" sz="15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4543350" y="2157443"/>
            <a:ext cx="31053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Users snap/upload a photo of leftover items; multimodal AI automatically extracts an editable ingredient list.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8237700" y="1687093"/>
            <a:ext cx="326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64E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AI Recipe Generator</a:t>
            </a:r>
            <a:endParaRPr b="0" i="0" sz="15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8315250" y="2071718"/>
            <a:ext cx="31053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Generates 100% vegetarian, fast recipes using available items + pre-assumed household staples (oil, salt, spices).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3604663" y="4332743"/>
            <a:ext cx="522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64E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Quantitative Eco-Impact Score</a:t>
            </a:r>
            <a:endParaRPr b="0" i="0" sz="15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3604663" y="4829843"/>
            <a:ext cx="497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Displays exact CO2 emissions saved (kg) and Water saved (L) based on UN environmental lifecycle data per generated recipe.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533400" y="457200"/>
            <a:ext cx="11658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064E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PROPOSED SOLUTION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33400" y="862012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8675" y="43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/>
          <p:nvPr/>
        </p:nvSpPr>
        <p:spPr>
          <a:xfrm>
            <a:off x="1614866" y="3795281"/>
            <a:ext cx="89001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7" name="Google Shape;12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9766" y="3128516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 txBox="1"/>
          <p:nvPr/>
        </p:nvSpPr>
        <p:spPr>
          <a:xfrm>
            <a:off x="1290786" y="3890516"/>
            <a:ext cx="487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STEP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1096241" y="4171504"/>
            <a:ext cx="857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USER 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1091700" y="4585850"/>
            <a:ext cx="885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Type text OR</a:t>
            </a:r>
            <a:b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 Upload photo</a:t>
            </a:r>
            <a:endParaRPr b="1" i="0" sz="1125" u="none" cap="none" strike="noStrike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31" name="Google Shape;13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10408" y="3128516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 txBox="1"/>
          <p:nvPr/>
        </p:nvSpPr>
        <p:spPr>
          <a:xfrm>
            <a:off x="3557141" y="3890516"/>
            <a:ext cx="51628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STEP 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3348408" y="4171491"/>
            <a:ext cx="933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PROCESSING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3185650" y="4585841"/>
            <a:ext cx="1259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b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 Gemini 3.6</a:t>
            </a:r>
            <a:endParaRPr b="1" i="0" sz="1125" u="none" cap="none" strike="noStrike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35" name="Google Shape;13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91051" y="3128516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 txBox="1"/>
          <p:nvPr/>
        </p:nvSpPr>
        <p:spPr>
          <a:xfrm>
            <a:off x="5837783" y="3890516"/>
            <a:ext cx="51628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STEP 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5645826" y="4219129"/>
            <a:ext cx="838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SERVER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5458738" y="4577941"/>
            <a:ext cx="1323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Next.js Gateway &amp;</a:t>
            </a:r>
            <a:b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 JSON Prompt Builder</a:t>
            </a:r>
            <a:endParaRPr b="1" i="0" sz="1125" u="none" cap="none" strike="noStrike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39" name="Google Shape;1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71693" y="3128516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 txBox="1"/>
          <p:nvPr/>
        </p:nvSpPr>
        <p:spPr>
          <a:xfrm>
            <a:off x="8118425" y="3890516"/>
            <a:ext cx="51628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STEP 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7803818" y="4235204"/>
            <a:ext cx="1057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 GENERATOR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7796656" y="4617991"/>
            <a:ext cx="1143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Gemini 3.6 Flash</a:t>
            </a:r>
            <a:b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 Structured Engine</a:t>
            </a:r>
            <a:endParaRPr b="1" i="0" sz="1125" u="none" cap="none" strike="noStrike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43" name="Google Shape;14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52335" y="3128516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 txBox="1"/>
          <p:nvPr/>
        </p:nvSpPr>
        <p:spPr>
          <a:xfrm>
            <a:off x="10403830" y="3890516"/>
            <a:ext cx="50675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47857"/>
                </a:solidFill>
                <a:latin typeface="Inter"/>
                <a:ea typeface="Inter"/>
                <a:cs typeface="Inter"/>
                <a:sym typeface="Inter"/>
              </a:rPr>
              <a:t>STEP 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10180835" y="4219129"/>
            <a:ext cx="952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ECO DISPLAY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10057035" y="4585841"/>
            <a:ext cx="1200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Recipe steps +</a:t>
            </a:r>
            <a:b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 CO2 &amp; Water score</a:t>
            </a:r>
            <a:endParaRPr b="1" i="0" sz="1125" u="none" cap="none" strike="noStrike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47" name="Google Shape;14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67891" y="3328541"/>
            <a:ext cx="1333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81858" y="3328541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91076" y="3328541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71718" y="3328541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52360" y="3328541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 txBox="1"/>
          <p:nvPr/>
        </p:nvSpPr>
        <p:spPr>
          <a:xfrm>
            <a:off x="533400" y="457200"/>
            <a:ext cx="11658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064E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WORKFLOW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33400" y="862012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700793" y="1422214"/>
            <a:ext cx="10790100" cy="1280100"/>
          </a:xfrm>
          <a:prstGeom prst="roundRect">
            <a:avLst>
              <a:gd fmla="val 16667" name="adj"/>
            </a:avLst>
          </a:prstGeom>
          <a:solidFill>
            <a:srgbClr val="FAFCFB"/>
          </a:solidFill>
          <a:ln cap="flat" cmpd="sng" w="9525">
            <a:solidFill>
              <a:srgbClr val="DAE4D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rgbClr val="26323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6323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generator returns a structured recipe: title → ingredients → short steps → timing → eco-impact values. This keeps the UI predictable and easy to render.</a:t>
            </a:r>
            <a:endParaRPr b="0" i="0" sz="17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872725" y="1422225"/>
            <a:ext cx="1323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" name="Google Shape;160;g409f079ae36_0_0"/>
          <p:cNvGraphicFramePr/>
          <p:nvPr/>
        </p:nvGraphicFramePr>
        <p:xfrm>
          <a:off x="1080025" y="117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{F77E0526-E2C8-42F0-8E97-029A61D0DE8A}</a:tableStyleId>
              </a:tblPr>
              <a:tblGrid>
                <a:gridCol w="1784525"/>
                <a:gridCol w="1816675"/>
                <a:gridCol w="6430750"/>
              </a:tblGrid>
              <a:tr h="375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Technology / Library</a:t>
                      </a:r>
                      <a:endParaRPr b="1"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Version</a:t>
                      </a:r>
                      <a:endParaRPr b="1"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Role &amp; Purpose</a:t>
                      </a:r>
                      <a:endParaRPr b="1"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709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Next.js (App Router)</a:t>
                      </a:r>
                      <a:endParaRPr b="1"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16.3.2</a:t>
                      </a:r>
                      <a:endParaRPr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Full-stack React framework for building the web application, including routing, server-side rendering, API routes, and server components.</a:t>
                      </a:r>
                      <a:endParaRPr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9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TypeScript</a:t>
                      </a:r>
                      <a:endParaRPr b="1"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^5</a:t>
                      </a:r>
                      <a:endParaRPr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Provides static type safety for application state, database models, API payloads, and React components.</a:t>
                      </a:r>
                      <a:endParaRPr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Tailwind CSS</a:t>
                      </a:r>
                      <a:endParaRPr b="1"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^4</a:t>
                      </a:r>
                      <a:endParaRPr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Utility-first CSS framework used for responsive, mobile-first styling and UI themes.</a:t>
                      </a:r>
                      <a:endParaRPr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9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Zustand</a:t>
                      </a:r>
                      <a:endParaRPr b="1"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^5.0.15</a:t>
                      </a:r>
                      <a:endParaRPr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Lightweight client-side state management for controlling the multi-step application flow, including the current step.</a:t>
                      </a:r>
                      <a:endParaRPr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9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PostgreSQL + Neon Serverless</a:t>
                      </a:r>
                      <a:endParaRPr b="1"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@neondatabase/serverless</a:t>
                      </a:r>
                      <a:r>
                        <a:rPr lang="en-US" sz="1100"/>
                        <a:t> ^1.1.0</a:t>
                      </a:r>
                      <a:endParaRPr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Cloud-based relational database used to store persistent user data, pantry inventory, and saved recipes.</a:t>
                      </a:r>
                      <a:endParaRPr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Prisma</a:t>
                      </a:r>
                      <a:endParaRPr b="1"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5.22.0</a:t>
                      </a:r>
                      <a:endParaRPr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Type-safe ORM used for database queries, schema management, and migrations.</a:t>
                      </a:r>
                      <a:endParaRPr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9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Google Gemini Flash</a:t>
                      </a:r>
                      <a:endParaRPr b="1" sz="1100"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Gemini 3.6 Flash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Gemini 3.5 Flash</a:t>
                      </a:r>
                      <a:endParaRPr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Multimodal AI used to analyze fridge and pantry images and identify available ingredients.</a:t>
                      </a:r>
                      <a:endParaRPr/>
                    </a:p>
                  </a:txBody>
                  <a:tcPr marT="76200" marB="76200" marR="76200" marL="762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" name="Google Shape;161;g409f079ae36_0_0"/>
          <p:cNvSpPr txBox="1"/>
          <p:nvPr/>
        </p:nvSpPr>
        <p:spPr>
          <a:xfrm>
            <a:off x="380850" y="337325"/>
            <a:ext cx="114303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lang="en-US" sz="3500">
                <a:solidFill>
                  <a:srgbClr val="064E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TECHNOLOGY STACK</a:t>
            </a:r>
            <a:endParaRPr b="1" i="0" sz="3500" u="none" cap="none" strike="noStrike">
              <a:solidFill>
                <a:srgbClr val="064E3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2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1" i="0" sz="3500" u="none" cap="none" strike="noStrike">
              <a:solidFill>
                <a:srgbClr val="064E3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g3fadb4a5d31_0_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fadb4a5d31_0_135"/>
          <p:cNvSpPr txBox="1"/>
          <p:nvPr/>
        </p:nvSpPr>
        <p:spPr>
          <a:xfrm>
            <a:off x="405725" y="408775"/>
            <a:ext cx="114303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064E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ASSUMPTIONS</a:t>
            </a:r>
            <a:endParaRPr b="1" i="0" sz="3500" u="none" cap="none" strike="noStrike">
              <a:solidFill>
                <a:srgbClr val="064E3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2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1" i="0" sz="3500" u="none" cap="none" strike="noStrike">
              <a:solidFill>
                <a:srgbClr val="064E3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8" name="Google Shape;168;g3fadb4a5d31_0_135"/>
          <p:cNvSpPr/>
          <p:nvPr/>
        </p:nvSpPr>
        <p:spPr>
          <a:xfrm>
            <a:off x="533400" y="223837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adb4a5d31_0_135"/>
          <p:cNvSpPr txBox="1"/>
          <p:nvPr/>
        </p:nvSpPr>
        <p:spPr>
          <a:xfrm>
            <a:off x="405725" y="1498900"/>
            <a:ext cx="11430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lus Jakarta Sans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Common household staples are available</a:t>
            </a:r>
            <a:r>
              <a:rPr b="0" i="0" lang="en-US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— Ingredients such as oil, salt, basic spices, and water can be assumed unless the user specifies otherwise.</a:t>
            </a:r>
            <a:endParaRPr b="0" i="0" sz="2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lus Jakarta Sans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Users provide reasonably accurate ingredient information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— For text input, the system assumes that the entered ingredients are actually available and usable.</a:t>
            </a:r>
            <a:endParaRPr b="0" i="0" sz="2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lus Jakarta Sans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Photo-based ingredient detection may require confirmation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— The AI may not identify every ingredient correctly from an image, so detected ingredients should be editable or confirmable by the user.</a:t>
            </a:r>
            <a:endParaRPr b="0" i="0" sz="2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g3fb6fcab6e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fb6fcab6ef_0_0"/>
          <p:cNvSpPr txBox="1"/>
          <p:nvPr/>
        </p:nvSpPr>
        <p:spPr>
          <a:xfrm>
            <a:off x="405725" y="408775"/>
            <a:ext cx="11190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064E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REFERENCES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fb6fcab6ef_0_0"/>
          <p:cNvSpPr/>
          <p:nvPr/>
        </p:nvSpPr>
        <p:spPr>
          <a:xfrm>
            <a:off x="533400" y="2238375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fb6fcab6ef_0_0"/>
          <p:cNvSpPr txBox="1"/>
          <p:nvPr/>
        </p:nvSpPr>
        <p:spPr>
          <a:xfrm>
            <a:off x="457775" y="1497550"/>
            <a:ext cx="110868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30%–40% Household Food Waste: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USDA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(United States Department of Agriculture) &amp;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Food and Agriculture Organization (FAO)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8%–10% Global Greenhouse Gas Emissions: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UNEP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(United Nations Environment Programme) 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Food Waste Index Report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IPCC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Intergovernmental Panel on Climate Change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Special Report on Climate Change and Land).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2"/>
          <p:cNvSpPr txBox="1"/>
          <p:nvPr/>
        </p:nvSpPr>
        <p:spPr>
          <a:xfrm>
            <a:off x="4651750" y="2728900"/>
            <a:ext cx="2732100" cy="64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64E3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